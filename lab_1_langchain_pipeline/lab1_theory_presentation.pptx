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900000"/>
            <a:ext cx="11000000" cy="1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Lab 1: LangChain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550000"/>
            <a:ext cx="11000000" cy="7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4EB3CF"/>
                </a:solidFill>
              </a:rPr>
              <a:t>BIT Professor Profile Pipeline — Theory Lecture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46000" y="3500000"/>
            <a:ext cx="1450000" cy="420000"/>
          </a:xfrm>
          <a:prstGeom prst="round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6000" y="3500000"/>
            <a:ext cx="1450000" cy="420000"/>
          </a:xfrm>
          <a:prstGeom prst="round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86000" y="3500000"/>
            <a:ext cx="1450000" cy="420000"/>
          </a:xfrm>
          <a:prstGeom prst="round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Multimodal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000" y="3500000"/>
            <a:ext cx="1450000" cy="420000"/>
          </a:xfrm>
          <a:prstGeom prst="round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KG-Gen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000" y="3500000"/>
            <a:ext cx="1450000" cy="420000"/>
          </a:xfrm>
          <a:prstGeom prst="round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Neo4j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96000" y="3500000"/>
            <a:ext cx="1450000" cy="420000"/>
          </a:xfrm>
          <a:prstGeom prst="round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MCP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62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</a:rPr>
              <a:t>Beijing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300000"/>
            <a:ext cx="6000000" cy="7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C39"/>
                </a:solidFill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6000" y="1400000"/>
            <a:ext cx="2000000" cy="120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6000" y="2600000"/>
            <a:ext cx="2000000" cy="2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F3F3F"/>
                </a:solidFill>
              </a:rPr>
              <a:t>The Full
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76000" y="1400000"/>
            <a:ext cx="2000000" cy="120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2876000" y="2600000"/>
            <a:ext cx="2000000" cy="2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F3F3F"/>
                </a:solidFill>
              </a:rPr>
              <a:t>LangChain
Blocks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96000" y="1400000"/>
            <a:ext cx="2000000" cy="120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6000" y="2600000"/>
            <a:ext cx="2000000" cy="2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F3F3F"/>
                </a:solidFill>
              </a:rPr>
              <a:t>Multimodal
Extraction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6000" y="1400000"/>
            <a:ext cx="2000000" cy="120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6000" y="2600000"/>
            <a:ext cx="2000000" cy="2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F3F3F"/>
                </a:solidFill>
              </a:rPr>
              <a:t>Knowledge
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36000" y="1400000"/>
            <a:ext cx="2000000" cy="120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36000" y="2600000"/>
            <a:ext cx="2000000" cy="2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F3F3F"/>
                </a:solidFill>
              </a:rPr>
              <a:t>Agents
+ MCP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220000"/>
            <a:ext cx="8000000" cy="7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C39"/>
                </a:solidFill>
              </a:rPr>
              <a:t>The Full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81000" y="2000000"/>
            <a:ext cx="1200000" cy="58000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Website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81000" y="2290000"/>
            <a:ext cx="9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81000" y="27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F3F3F"/>
                </a:solidFill>
              </a:rPr>
              <a:t>Plain 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71000" y="2000000"/>
            <a:ext cx="1200000" cy="58000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Image Pages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71000" y="2290000"/>
            <a:ext cx="9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71000" y="27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F3F3F"/>
                </a:solidFill>
              </a:rPr>
              <a:t>model.invoke()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1000" y="2000000"/>
            <a:ext cx="1200000" cy="580000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Page Notes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61000" y="2290000"/>
            <a:ext cx="9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61000" y="27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F3F3F"/>
                </a:solidFill>
              </a:rPr>
              <a:t>LCEL 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51000" y="2000000"/>
            <a:ext cx="1200000" cy="580000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Polished
Markdown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51000" y="2290000"/>
            <a:ext cx="9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51000" y="27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F3F3F"/>
                </a:solidFill>
              </a:rPr>
              <a:t>LCEL chain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1000" y="2000000"/>
            <a:ext cx="1200000" cy="580000"/>
          </a:xfrm>
          <a:prstGeom prst="rect">
            <a:avLst/>
          </a:prstGeom>
          <a:solidFill>
            <a:srgbClr val="97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Graph JSON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41000" y="2290000"/>
            <a:ext cx="9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41000" y="27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F3F3F"/>
                </a:solidFill>
              </a:rPr>
              <a:t>KG-Gen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31000" y="2000000"/>
            <a:ext cx="1200000" cy="580000"/>
          </a:xfrm>
          <a:prstGeom prst="rect">
            <a:avLst/>
          </a:prstGeom>
          <a:solidFill>
            <a:srgbClr val="97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Neo4j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31000" y="2290000"/>
            <a:ext cx="9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31000" y="27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F3F3F"/>
                </a:solidFill>
              </a:rPr>
              <a:t>neo4j driver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21000" y="2000000"/>
            <a:ext cx="1200000" cy="580000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MCP Agent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21000" y="2290000"/>
            <a:ext cx="9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21000" y="27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F3F3F"/>
                </a:solidFill>
              </a:rPr>
              <a:t>create_agent()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11000" y="2000000"/>
            <a:ext cx="1200000" cy="58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1000" y="27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F3F3F"/>
                </a:solidFill>
              </a:rPr>
              <a:t>(result)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00" y="3200000"/>
            <a:ext cx="110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F3F3F"/>
                </a:solidFill>
              </a:rPr>
              <a:t>Color legend:  Gray = Plain Python  |  Blue = LCEL  |  Gold = KG / Neo4j  |  Red = Agent  |  Green =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220000"/>
            <a:ext cx="8000000" cy="7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C39"/>
                </a:solidFill>
              </a:rPr>
              <a:t>When to Use Each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000" y="1100000"/>
            <a:ext cx="2000000" cy="72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0000" y="1100000"/>
            <a:ext cx="4000000" cy="72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Task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00000" y="1100000"/>
            <a:ext cx="3500000" cy="72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Used in Lab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1830000"/>
            <a:ext cx="2000000" cy="720000"/>
          </a:xfrm>
          <a:prstGeom prst="rect">
            <a:avLst/>
          </a:prstGeom>
          <a:solidFill>
            <a:srgbClr val="E8E8E8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3F3F3F"/>
                </a:solidFill>
              </a:rPr>
              <a:t>Plain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00000" y="1830000"/>
            <a:ext cx="4000000" cy="720000"/>
          </a:xfrm>
          <a:prstGeom prst="rect">
            <a:avLst/>
          </a:prstGeom>
          <a:solidFill>
            <a:srgbClr val="E8E8E8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3F3F3F"/>
                </a:solidFill>
              </a:rPr>
              <a:t>Deterministic: crawl, parse, file I/O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1830000"/>
            <a:ext cx="3500000" cy="720000"/>
          </a:xfrm>
          <a:prstGeom prst="rect">
            <a:avLst/>
          </a:prstGeom>
          <a:solidFill>
            <a:srgbClr val="E8E8E8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3F3F3F"/>
                </a:solidFill>
              </a:rPr>
              <a:t>Steps 1–2, 5–6, 9–10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2560000"/>
            <a:ext cx="2000000" cy="720000"/>
          </a:xfrm>
          <a:prstGeom prst="rect">
            <a:avLst/>
          </a:prstGeom>
          <a:solidFill>
            <a:srgbClr val="D6EDF5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3F3F3F"/>
                </a:solidFill>
              </a:rPr>
              <a:t>model.invoke()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0000" y="2560000"/>
            <a:ext cx="4000000" cy="720000"/>
          </a:xfrm>
          <a:prstGeom prst="rect">
            <a:avLst/>
          </a:prstGeom>
          <a:solidFill>
            <a:srgbClr val="D6EDF5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3F3F3F"/>
                </a:solidFill>
              </a:rPr>
              <a:t>Mixed content: text + 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0000" y="2560000"/>
            <a:ext cx="3500000" cy="720000"/>
          </a:xfrm>
          <a:prstGeom prst="rect">
            <a:avLst/>
          </a:prstGeom>
          <a:solidFill>
            <a:srgbClr val="D6EDF5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3F3F3F"/>
                </a:solidFill>
              </a:rPr>
              <a:t>Step 7 – image extraction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" y="3290000"/>
            <a:ext cx="2000000" cy="720000"/>
          </a:xfrm>
          <a:prstGeom prst="rect">
            <a:avLst/>
          </a:prstGeom>
          <a:solidFill>
            <a:srgbClr val="D6EDF5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3F3F3F"/>
                </a:solidFill>
              </a:rPr>
              <a:t>LCEL chain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00000" y="3290000"/>
            <a:ext cx="4000000" cy="720000"/>
          </a:xfrm>
          <a:prstGeom prst="rect">
            <a:avLst/>
          </a:prstGeom>
          <a:solidFill>
            <a:srgbClr val="D6EDF5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3F3F3F"/>
                </a:solidFill>
              </a:rPr>
              <a:t>Text → Text pipelines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3290000"/>
            <a:ext cx="3500000" cy="720000"/>
          </a:xfrm>
          <a:prstGeom prst="rect">
            <a:avLst/>
          </a:prstGeom>
          <a:solidFill>
            <a:srgbClr val="D6EDF5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3F3F3F"/>
                </a:solidFill>
              </a:rPr>
              <a:t>Step 8 – polish &amp; summarize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0000" y="4020000"/>
            <a:ext cx="2000000" cy="720000"/>
          </a:xfrm>
          <a:prstGeom prst="rect">
            <a:avLst/>
          </a:prstGeom>
          <a:solidFill>
            <a:srgbClr val="F5E0D6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3F3F3F"/>
                </a:solidFill>
              </a:rPr>
              <a:t>create_agent()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0000" y="4020000"/>
            <a:ext cx="4000000" cy="720000"/>
          </a:xfrm>
          <a:prstGeom prst="rect">
            <a:avLst/>
          </a:prstGeom>
          <a:solidFill>
            <a:srgbClr val="F5E0D6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3F3F3F"/>
                </a:solidFill>
              </a:rPr>
              <a:t>Tool-using loops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4020000"/>
            <a:ext cx="3500000" cy="720000"/>
          </a:xfrm>
          <a:prstGeom prst="rect">
            <a:avLst/>
          </a:prstGeom>
          <a:solidFill>
            <a:srgbClr val="F5E0D6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3F3F3F"/>
                </a:solidFill>
              </a:rPr>
              <a:t>Step 11 – Neo4j Q&amp;A via MCP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" y="4950000"/>
            <a:ext cx="11300000" cy="620000"/>
          </a:xfrm>
          <a:prstGeom prst="rect">
            <a:avLst/>
          </a:prstGeom>
          <a:solidFill>
            <a:srgbClr val="F5F7F2"/>
          </a:solidFill>
          <a:ln w="2540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6C39"/>
                </a:solidFill>
              </a:rPr>
              <a:t>Key rule: Use LLMs only where reasoning adds value. Keep deterministic steps in plain Python.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220000"/>
            <a:ext cx="8000000" cy="7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C39"/>
                </a:solidFill>
              </a:rPr>
              <a:t>The Pipe Operator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496000" y="1400000"/>
            <a:ext cx="2800000" cy="620000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ChatPromptTemplate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6000" y="1710000"/>
            <a:ext cx="400000" cy="0"/>
          </a:xfrm>
          <a:prstGeom prst="line">
            <a:avLst/>
          </a:prstGeom>
          <a:ln w="2540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696000" y="1400000"/>
            <a:ext cx="2800000" cy="620000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ChatOpenAI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6000" y="1710000"/>
            <a:ext cx="400000" cy="0"/>
          </a:xfrm>
          <a:prstGeom prst="line">
            <a:avLst/>
          </a:prstGeom>
          <a:ln w="2540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896000" y="1400000"/>
            <a:ext cx="2800000" cy="620000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StrOutputParser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" y="2400000"/>
            <a:ext cx="11000000" cy="90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F3F3F"/>
                </a:solidFill>
              </a:rPr>
              <a:t>chain = ChatPromptTemplate.from_template("{q}") | model | StrOutputParser()
chain.invoke({"q": "Why does structured markdown help?"})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000" y="3700000"/>
            <a:ext cx="5200000" cy="9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3F3F"/>
                </a:solidFill>
              </a:rPr>
              <a:t>Swap any piece — change the model without touching the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0000" y="3700000"/>
            <a:ext cx="5200000" cy="9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3F3F"/>
                </a:solidFill>
              </a:rPr>
              <a:t>Compose chains — chain outputs become chain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" y="4750000"/>
            <a:ext cx="110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F3F3F"/>
                </a:solidFill>
              </a:rPr>
              <a:t>LCEL = LangChain Expression Language  ·  | operator chains runnables together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220000"/>
            <a:ext cx="9000000" cy="7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C39"/>
                </a:solidFill>
              </a:rPr>
              <a:t>Image + Context → Model →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1300000"/>
            <a:ext cx="3800000" cy="2200000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HumanMessage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800000"/>
            <a:ext cx="3500000" cy="6000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Text: extraction_prompt + profile_so_far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2500000"/>
            <a:ext cx="3500000" cy="600000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</a:rPr>
              <a:t>Image: image_url (page 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50000" y="2400000"/>
            <a:ext cx="450000" cy="0"/>
          </a:xfrm>
          <a:prstGeom prst="line">
            <a:avLst/>
          </a:prstGeom>
          <a:ln w="2540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650000" y="2090000"/>
            <a:ext cx="2400000" cy="62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model.invoke()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0000" y="2400000"/>
            <a:ext cx="600000" cy="0"/>
          </a:xfrm>
          <a:prstGeom prst="line">
            <a:avLst/>
          </a:prstGeom>
          <a:ln w="2540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750000" y="2090000"/>
            <a:ext cx="3000000" cy="620000"/>
          </a:xfrm>
          <a:prstGeom prst="rect">
            <a:avLst/>
          </a:prstGeom>
          <a:solidFill>
            <a:srgbClr val="97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Page Notes (.md)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" y="3700000"/>
            <a:ext cx="11000000" cy="3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3F3F"/>
                </a:solidFill>
              </a:rPr>
              <a:t>Context-carry loop (profile_so_far accumulates across pages):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000" y="4100000"/>
            <a:ext cx="1700000" cy="500000"/>
          </a:xfrm>
          <a:prstGeom prst="rect">
            <a:avLst/>
          </a:prstGeom>
          <a:solidFill>
            <a:srgbClr val="97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Page 1 notes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50000" y="4350000"/>
            <a:ext cx="25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300000" y="4100000"/>
            <a:ext cx="1700000" cy="500000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Page 2 call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00000" y="4350000"/>
            <a:ext cx="25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250000" y="4100000"/>
            <a:ext cx="1700000" cy="500000"/>
          </a:xfrm>
          <a:prstGeom prst="rect">
            <a:avLst/>
          </a:prstGeom>
          <a:solidFill>
            <a:srgbClr val="97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Page 2 notes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50000" y="4350000"/>
            <a:ext cx="25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200000" y="4100000"/>
            <a:ext cx="1700000" cy="500000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Page 3 call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0000" y="4350000"/>
            <a:ext cx="25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150000" y="4100000"/>
            <a:ext cx="1700000" cy="500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000" y="4750000"/>
            <a:ext cx="11000000" cy="3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F3F3F"/>
                </a:solidFill>
              </a:rPr>
              <a:t>profile_so_far (running context) feeds each successive page call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220000"/>
            <a:ext cx="8000000" cy="7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C39"/>
                </a:solidFill>
              </a:rPr>
              <a:t>Structured Knowledge</a:t>
            </a:r>
          </a:p>
        </p:txBody>
      </p:sp>
      <p:sp>
        <p:nvSpPr>
          <p:cNvPr id="4" name="Oval 3"/>
          <p:cNvSpPr/>
          <p:nvPr/>
        </p:nvSpPr>
        <p:spPr>
          <a:xfrm>
            <a:off x="1900000" y="2800000"/>
            <a:ext cx="1800000" cy="800000"/>
          </a:xfrm>
          <a:prstGeom prst="ellipse">
            <a:avLst/>
          </a:prstGeom>
          <a:solidFill>
            <a:srgbClr val="006C3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CHE Haiying</a:t>
            </a:r>
          </a:p>
        </p:txBody>
      </p:sp>
      <p:sp>
        <p:nvSpPr>
          <p:cNvPr id="5" name="Oval 4"/>
          <p:cNvSpPr/>
          <p:nvPr/>
        </p:nvSpPr>
        <p:spPr>
          <a:xfrm>
            <a:off x="2050000" y="1400000"/>
            <a:ext cx="1500000" cy="600000"/>
          </a:xfrm>
          <a:prstGeom prst="ellipse">
            <a:avLst/>
          </a:prstGeom>
          <a:solidFill>
            <a:srgbClr val="977B2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Signal Processing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800000" y="1700000"/>
            <a:ext cx="0" cy="150000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50000" y="230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F3F3F"/>
                </a:solidFill>
              </a:rPr>
              <a:t>RESEARCHES</a:t>
            </a:r>
          </a:p>
        </p:txBody>
      </p:sp>
      <p:sp>
        <p:nvSpPr>
          <p:cNvPr id="8" name="Oval 7"/>
          <p:cNvSpPr/>
          <p:nvPr/>
        </p:nvSpPr>
        <p:spPr>
          <a:xfrm>
            <a:off x="3650000" y="2300000"/>
            <a:ext cx="1500000" cy="600000"/>
          </a:xfrm>
          <a:prstGeom prst="ellipse">
            <a:avLst/>
          </a:prstGeom>
          <a:solidFill>
            <a:srgbClr val="977B2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BIT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800000" y="2600000"/>
            <a:ext cx="1600000" cy="60000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50000" y="27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F3F3F"/>
                </a:solidFill>
              </a:rPr>
              <a:t>AFFILIATED_WITH</a:t>
            </a:r>
          </a:p>
        </p:txBody>
      </p:sp>
      <p:sp>
        <p:nvSpPr>
          <p:cNvPr id="11" name="Oval 10"/>
          <p:cNvSpPr/>
          <p:nvPr/>
        </p:nvSpPr>
        <p:spPr>
          <a:xfrm>
            <a:off x="3650000" y="3500000"/>
            <a:ext cx="1500000" cy="600000"/>
          </a:xfrm>
          <a:prstGeom prst="ellipse">
            <a:avLst/>
          </a:prstGeom>
          <a:solidFill>
            <a:srgbClr val="977B2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IEEE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00000" y="3200000"/>
            <a:ext cx="1600000" cy="60000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50000" y="33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F3F3F"/>
                </a:solidFill>
              </a:rPr>
              <a:t>MEMBER_OF</a:t>
            </a:r>
          </a:p>
        </p:txBody>
      </p:sp>
      <p:sp>
        <p:nvSpPr>
          <p:cNvPr id="14" name="Oval 13"/>
          <p:cNvSpPr/>
          <p:nvPr/>
        </p:nvSpPr>
        <p:spPr>
          <a:xfrm>
            <a:off x="2050000" y="4400000"/>
            <a:ext cx="1500000" cy="600000"/>
          </a:xfrm>
          <a:prstGeom prst="ellipse">
            <a:avLst/>
          </a:prstGeom>
          <a:solidFill>
            <a:srgbClr val="977B2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PhD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00000" y="3200000"/>
            <a:ext cx="0" cy="150000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50000" y="380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F3F3F"/>
                </a:solidFill>
              </a:rPr>
              <a:t>DEGREE</a:t>
            </a:r>
          </a:p>
        </p:txBody>
      </p:sp>
      <p:sp>
        <p:nvSpPr>
          <p:cNvPr id="17" name="Oval 16"/>
          <p:cNvSpPr/>
          <p:nvPr/>
        </p:nvSpPr>
        <p:spPr>
          <a:xfrm>
            <a:off x="450000" y="2900000"/>
            <a:ext cx="1500000" cy="600000"/>
          </a:xfrm>
          <a:prstGeom prst="ellipse">
            <a:avLst/>
          </a:prstGeom>
          <a:solidFill>
            <a:srgbClr val="977B2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Telecom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200000" y="3200000"/>
            <a:ext cx="1600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50000" y="305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F3F3F"/>
                </a:solidFill>
              </a:rPr>
              <a:t>FIELD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0000" y="1200000"/>
            <a:ext cx="5500000" cy="17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4EB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3F3F"/>
                </a:solidFill>
              </a:rPr>
              <a:t>KG-Gen (Step 9)
LLM extracts entities + triples
from polished markdown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0" y="3200000"/>
            <a:ext cx="5500000" cy="1700000"/>
          </a:xfrm>
          <a:prstGeom prst="rect">
            <a:avLst/>
          </a:prstGeom>
          <a:solidFill>
            <a:srgbClr val="FFFFFF"/>
          </a:solidFill>
          <a:ln w="38100">
            <a:solidFill>
              <a:srgbClr val="97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3F3F"/>
                </a:solidFill>
              </a:rPr>
              <a:t>Neo4j (Step 10)
MERGE nodes · create typed
relationships · verify with Cypher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0000" y="5200000"/>
            <a:ext cx="5500000" cy="900000"/>
          </a:xfrm>
          <a:prstGeom prst="rect">
            <a:avLst/>
          </a:prstGeom>
          <a:solidFill>
            <a:srgbClr val="F5F7F2"/>
          </a:solidFill>
          <a:ln w="1270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F3F3F"/>
                </a:solidFill>
              </a:rPr>
              <a:t>Graph databases enable semantic queries: who researches what, collaboration networks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220000"/>
            <a:ext cx="8000000" cy="7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C39"/>
                </a:solidFill>
              </a:rPr>
              <a:t>Agents + 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000" y="1519000"/>
            <a:ext cx="3200000" cy="62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User Question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00000" y="2139000"/>
            <a:ext cx="0" cy="280000"/>
          </a:xfrm>
          <a:prstGeom prst="line">
            <a:avLst/>
          </a:prstGeom>
          <a:ln w="2540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00000" y="2419000"/>
            <a:ext cx="3200000" cy="620000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Model generates step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00000" y="3039000"/>
            <a:ext cx="0" cy="280000"/>
          </a:xfrm>
          <a:prstGeom prst="line">
            <a:avLst/>
          </a:prstGeom>
          <a:ln w="2540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00000" y="3319000"/>
            <a:ext cx="3200000" cy="620000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Tool Call (MCP)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00000" y="3939000"/>
            <a:ext cx="0" cy="280000"/>
          </a:xfrm>
          <a:prstGeom prst="line">
            <a:avLst/>
          </a:prstGeom>
          <a:ln w="2540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00000" y="4219000"/>
            <a:ext cx="3200000" cy="620000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Tool Result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00000" y="4839000"/>
            <a:ext cx="0" cy="280000"/>
          </a:xfrm>
          <a:prstGeom prst="line">
            <a:avLst/>
          </a:prstGeom>
          <a:ln w="2540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00000" y="5119000"/>
            <a:ext cx="3200000" cy="62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Final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0000" y="3429000"/>
            <a:ext cx="8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13F0B"/>
                </a:solidFill>
              </a:rPr>
              <a:t>↺ loop
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0" y="1100000"/>
            <a:ext cx="6700000" cy="54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0000" y="1300000"/>
            <a:ext cx="630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6C39"/>
                </a:solidFill>
              </a:rPr>
              <a:t>MCP — Model Context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0000" y="2000000"/>
            <a:ext cx="6200000" cy="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F3F3F"/>
                </a:solidFill>
              </a:rPr>
              <a:t>• Standard protocol for exposing tools to LLMs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0000" y="2700000"/>
            <a:ext cx="6200000" cy="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F3F3F"/>
                </a:solidFill>
              </a:rPr>
              <a:t>• Agent discovers tools at runtime (schema, Cypher)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0000" y="3400000"/>
            <a:ext cx="6200000" cy="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F3F3F"/>
                </a:solidFill>
              </a:rPr>
              <a:t>• Neo4j MCP server via MultiServerMCPClient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0000" y="4100000"/>
            <a:ext cx="6200000" cy="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F3F3F"/>
                </a:solidFill>
              </a:rPr>
              <a:t>• Agent loops: Thought → Action → Observation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0000" y="4800000"/>
            <a:ext cx="6200000" cy="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F3F3F"/>
                </a:solidFill>
              </a:rPr>
              <a:t>• Stops when it has enough to answer the 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80000"/>
            <a:ext cx="8000000" cy="6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6C39"/>
                </a:solidFill>
              </a:rPr>
              <a:t>Complete Workflow — Color Coded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0000" y="200000"/>
            <a:ext cx="3300000" cy="30000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Plain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0000" y="580000"/>
            <a:ext cx="3300000" cy="300000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LCEL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0000" y="960000"/>
            <a:ext cx="3300000" cy="300000"/>
          </a:xfrm>
          <a:prstGeom prst="rect">
            <a:avLst/>
          </a:prstGeom>
          <a:solidFill>
            <a:srgbClr val="97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KG / Neo4j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0000" y="1340000"/>
            <a:ext cx="3300000" cy="300000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Agent / MCP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6000" y="1700000"/>
            <a:ext cx="1180000" cy="64000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Website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6000" y="2020000"/>
            <a:ext cx="8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6000" y="2420000"/>
            <a:ext cx="1180000" cy="3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2A2A2"/>
                </a:solidFill>
              </a:rPr>
              <a:t>Plain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6000" y="1700000"/>
            <a:ext cx="1180000" cy="64000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Image Pages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36000" y="2020000"/>
            <a:ext cx="8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56000" y="2420000"/>
            <a:ext cx="1180000" cy="3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2A2A2"/>
                </a:solidFill>
              </a:rPr>
              <a:t>Plain Python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6000" y="1700000"/>
            <a:ext cx="1180000" cy="640000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Page Notes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96000" y="2020000"/>
            <a:ext cx="8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16000" y="2420000"/>
            <a:ext cx="1180000" cy="3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EB3CF"/>
                </a:solidFill>
              </a:rPr>
              <a:t>LCEL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000" y="1700000"/>
            <a:ext cx="1180000" cy="640000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Polished
MD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56000" y="2020000"/>
            <a:ext cx="8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76000" y="2420000"/>
            <a:ext cx="1180000" cy="3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EB3CF"/>
                </a:solidFill>
              </a:rPr>
              <a:t>LCEL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6000" y="1700000"/>
            <a:ext cx="1180000" cy="640000"/>
          </a:xfrm>
          <a:prstGeom prst="rect">
            <a:avLst/>
          </a:prstGeom>
          <a:solidFill>
            <a:srgbClr val="97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Graph JSON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6000" y="2020000"/>
            <a:ext cx="8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36000" y="2420000"/>
            <a:ext cx="1180000" cy="3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77B2D"/>
                </a:solidFill>
              </a:rPr>
              <a:t>KG-Gen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6000" y="1700000"/>
            <a:ext cx="1180000" cy="640000"/>
          </a:xfrm>
          <a:prstGeom prst="rect">
            <a:avLst/>
          </a:prstGeom>
          <a:solidFill>
            <a:srgbClr val="97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Neo4j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76000" y="2020000"/>
            <a:ext cx="8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96000" y="2420000"/>
            <a:ext cx="1180000" cy="3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77B2D"/>
                </a:solidFill>
              </a:rPr>
              <a:t>neo4j driver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56000" y="1700000"/>
            <a:ext cx="1180000" cy="640000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MCP Agent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36000" y="2020000"/>
            <a:ext cx="80000" cy="0"/>
          </a:xfrm>
          <a:prstGeom prst="line">
            <a:avLst/>
          </a:prstGeom>
          <a:ln w="19050">
            <a:solidFill>
              <a:srgbClr val="3F3F3F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656000" y="2420000"/>
            <a:ext cx="1180000" cy="3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13F0B"/>
                </a:solidFill>
              </a:rPr>
              <a:t>create_agent()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16000" y="1700000"/>
            <a:ext cx="1180000" cy="64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6000" y="2420000"/>
            <a:ext cx="1180000" cy="3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C39"/>
                </a:solidFill>
              </a:rP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00" y="3200000"/>
            <a:ext cx="3000000" cy="3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3F3F"/>
                </a:solidFill>
              </a:rPr>
              <a:t>Artifacts produced: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16000" y="3500000"/>
            <a:ext cx="1180000" cy="480000"/>
          </a:xfrm>
          <a:prstGeom prst="rect">
            <a:avLst/>
          </a:prstGeom>
          <a:solidFill>
            <a:srgbClr val="F5F7F2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F3F3F"/>
                </a:solidFill>
              </a:rPr>
              <a:t>profile_so_far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96000" y="3740000"/>
            <a:ext cx="80000" cy="0"/>
          </a:xfrm>
          <a:prstGeom prst="line">
            <a:avLst/>
          </a:prstGeom>
          <a:ln w="12700">
            <a:solidFill>
              <a:srgbClr val="A2A2A2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876000" y="3500000"/>
            <a:ext cx="1180000" cy="480000"/>
          </a:xfrm>
          <a:prstGeom prst="rect">
            <a:avLst/>
          </a:prstGeom>
          <a:solidFill>
            <a:srgbClr val="F5F7F2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F3F3F"/>
                </a:solidFill>
              </a:rPr>
              <a:t>che-haiying.md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56000" y="3740000"/>
            <a:ext cx="80000" cy="0"/>
          </a:xfrm>
          <a:prstGeom prst="line">
            <a:avLst/>
          </a:prstGeom>
          <a:ln w="12700">
            <a:solidFill>
              <a:srgbClr val="A2A2A2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136000" y="3500000"/>
            <a:ext cx="1180000" cy="480000"/>
          </a:xfrm>
          <a:prstGeom prst="rect">
            <a:avLst/>
          </a:prstGeom>
          <a:solidFill>
            <a:srgbClr val="F5F7F2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F3F3F"/>
                </a:solidFill>
              </a:rPr>
              <a:t>graph.json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16000" y="3740000"/>
            <a:ext cx="80000" cy="0"/>
          </a:xfrm>
          <a:prstGeom prst="line">
            <a:avLst/>
          </a:prstGeom>
          <a:ln w="12700">
            <a:solidFill>
              <a:srgbClr val="A2A2A2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396000" y="3500000"/>
            <a:ext cx="1180000" cy="480000"/>
          </a:xfrm>
          <a:prstGeom prst="rect">
            <a:avLst/>
          </a:prstGeom>
          <a:solidFill>
            <a:srgbClr val="F5F7F2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F3F3F"/>
                </a:solidFill>
              </a:rPr>
              <a:t>Neo4j DB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576000" y="3740000"/>
            <a:ext cx="80000" cy="0"/>
          </a:xfrm>
          <a:prstGeom prst="line">
            <a:avLst/>
          </a:prstGeom>
          <a:ln w="12700">
            <a:solidFill>
              <a:srgbClr val="A2A2A2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656000" y="3500000"/>
            <a:ext cx="1180000" cy="480000"/>
          </a:xfrm>
          <a:prstGeom prst="rect">
            <a:avLst/>
          </a:prstGeom>
          <a:solidFill>
            <a:srgbClr val="F5F7F2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F3F3F"/>
                </a:solidFill>
              </a:rPr>
              <a:t>queries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36000" y="3740000"/>
            <a:ext cx="80000" cy="0"/>
          </a:xfrm>
          <a:prstGeom prst="line">
            <a:avLst/>
          </a:prstGeom>
          <a:ln w="12700">
            <a:solidFill>
              <a:srgbClr val="A2A2A2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9916000" y="3500000"/>
            <a:ext cx="1180000" cy="480000"/>
          </a:xfrm>
          <a:prstGeom prst="rect">
            <a:avLst/>
          </a:prstGeom>
          <a:solidFill>
            <a:srgbClr val="F5F7F2"/>
          </a:solidFill>
          <a:ln w="63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F3F3F"/>
                </a:solidFill>
              </a:rPr>
              <a:t>Answer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0000" y="4300000"/>
            <a:ext cx="110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F3F3F"/>
                </a:solidFill>
              </a:rPr>
              <a:t>Each artifact is inspectable — intermediate outputs let you debug any stage independently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80000"/>
            <a:ext cx="8000000" cy="6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C39"/>
                </a:solidFill>
              </a:rPr>
              <a:t>13 Notebook Sections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6000" y="1300000"/>
            <a:ext cx="1750000" cy="55000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000" y="1850000"/>
            <a:ext cx="1750000" cy="350000"/>
          </a:xfrm>
          <a:prstGeom prst="rect">
            <a:avLst/>
          </a:prstGeom>
          <a:solidFill>
            <a:srgbClr val="F5F7F2"/>
          </a:solidFill>
          <a:ln w="12700">
            <a:solidFill>
              <a:srgbClr val="A2A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A2A2A2"/>
                </a:solidFill>
              </a:rPr>
              <a:t>Steps 1–4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6000" y="2200000"/>
            <a:ext cx="175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2A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F3F3F"/>
                </a:solidFill>
              </a:rPr>
              <a:t>Env, keys, imports, BIT website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6000" y="1300000"/>
            <a:ext cx="1750000" cy="55000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Crawl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6000" y="1850000"/>
            <a:ext cx="1750000" cy="350000"/>
          </a:xfrm>
          <a:prstGeom prst="rect">
            <a:avLst/>
          </a:prstGeom>
          <a:solidFill>
            <a:srgbClr val="F5F7F2"/>
          </a:solidFill>
          <a:ln w="12700">
            <a:solidFill>
              <a:srgbClr val="A2A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A2A2A2"/>
                </a:solidFill>
              </a:rPr>
              <a:t>Steps 5–6</a:t>
            </a:r>
          </a:p>
        </p:txBody>
      </p:sp>
      <p:sp>
        <p:nvSpPr>
          <p:cNvPr id="9" name="Rectangle 8"/>
          <p:cNvSpPr/>
          <p:nvPr/>
        </p:nvSpPr>
        <p:spPr>
          <a:xfrm>
            <a:off x="2446000" y="2200000"/>
            <a:ext cx="175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2A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F3F3F"/>
                </a:solidFill>
              </a:rPr>
              <a:t>Fetch HTML, convert pages to 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6000" y="1300000"/>
            <a:ext cx="1750000" cy="550000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6000" y="1850000"/>
            <a:ext cx="1750000" cy="350000"/>
          </a:xfrm>
          <a:prstGeom prst="rect">
            <a:avLst/>
          </a:prstGeom>
          <a:solidFill>
            <a:srgbClr val="F5F7F2"/>
          </a:solidFill>
          <a:ln w="12700">
            <a:solidFill>
              <a:srgbClr val="4EB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4EB3CF"/>
                </a:solidFill>
              </a:rPr>
              <a:t>Steps 7–8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6000" y="2200000"/>
            <a:ext cx="175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F3F3F"/>
                </a:solidFill>
              </a:rPr>
              <a:t>Multimodal notes, LCEL polish 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6000" y="1300000"/>
            <a:ext cx="1750000" cy="550000"/>
          </a:xfrm>
          <a:prstGeom prst="rect">
            <a:avLst/>
          </a:prstGeom>
          <a:solidFill>
            <a:srgbClr val="97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Graph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6000" y="1850000"/>
            <a:ext cx="1750000" cy="350000"/>
          </a:xfrm>
          <a:prstGeom prst="rect">
            <a:avLst/>
          </a:prstGeom>
          <a:solidFill>
            <a:srgbClr val="F5F7F2"/>
          </a:solidFill>
          <a:ln w="12700">
            <a:solidFill>
              <a:srgbClr val="97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977B2D"/>
                </a:solidFill>
              </a:rPr>
              <a:t>Steps 9–10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6000" y="2200000"/>
            <a:ext cx="175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F3F3F"/>
                </a:solidFill>
              </a:rPr>
              <a:t>KG-Gen triples, load Neo4j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6000" y="1300000"/>
            <a:ext cx="1750000" cy="550000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1850000"/>
            <a:ext cx="1750000" cy="350000"/>
          </a:xfrm>
          <a:prstGeom prst="rect">
            <a:avLst/>
          </a:prstGeom>
          <a:solidFill>
            <a:srgbClr val="F5F7F2"/>
          </a:solidFill>
          <a:ln w="12700">
            <a:solidFill>
              <a:srgbClr val="A13F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A13F0B"/>
                </a:solidFill>
              </a:rPr>
              <a:t>Steps 11–12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6000" y="2200000"/>
            <a:ext cx="175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13F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F3F3F"/>
                </a:solidFill>
              </a:rPr>
              <a:t>MCP agent, natural-language Q&amp;A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46000" y="1300000"/>
            <a:ext cx="1750000" cy="55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Wrap-up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46000" y="1850000"/>
            <a:ext cx="1750000" cy="350000"/>
          </a:xfrm>
          <a:prstGeom prst="rect">
            <a:avLst/>
          </a:prstGeom>
          <a:solidFill>
            <a:srgbClr val="F5F7F2"/>
          </a:solidFill>
          <a:ln w="1270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6C39"/>
                </a:solidFill>
              </a:rPr>
              <a:t>Step 13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46000" y="2200000"/>
            <a:ext cx="175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3F3F3F"/>
                </a:solidFill>
              </a:rPr>
              <a:t>Review, save artifacts, 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000" y="3100000"/>
            <a:ext cx="11200000" cy="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F3F3F"/>
                </a:solidFill>
              </a:rPr>
              <a:t>Read each section header:  "Learning Goal · Theory · Expected Result · Why it Matters"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000" y="3900000"/>
            <a:ext cx="11000000" cy="200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000" y="3900000"/>
            <a:ext cx="1750000" cy="20000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46000" y="3900000"/>
            <a:ext cx="1750000" cy="20000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6000" y="3900000"/>
            <a:ext cx="1750000" cy="200000"/>
          </a:xfrm>
          <a:prstGeom prst="rect">
            <a:avLst/>
          </a:prstGeom>
          <a:solidFill>
            <a:srgbClr val="4EB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6000" y="3900000"/>
            <a:ext cx="1750000" cy="200000"/>
          </a:xfrm>
          <a:prstGeom prst="rect">
            <a:avLst/>
          </a:prstGeom>
          <a:solidFill>
            <a:srgbClr val="97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6000" y="3900000"/>
            <a:ext cx="1750000" cy="200000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46000" y="3900000"/>
            <a:ext cx="1750000" cy="20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000" y="4300000"/>
            <a:ext cx="1120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F3F3F"/>
                </a:solidFill>
              </a:rPr>
              <a:t>Work through sections sequentially — each builds on the last. All code is in a single notebook.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80000"/>
            <a:ext cx="8000000" cy="6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C39"/>
                </a:solidFill>
              </a:rPr>
              <a:t>Carry These Into Every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000" y="1400000"/>
            <a:ext cx="2100000" cy="20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6000" y="1550000"/>
            <a:ext cx="500000" cy="500000"/>
          </a:xfrm>
          <a:prstGeom prst="round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000" y="2150000"/>
            <a:ext cx="1940000" cy="4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6C39"/>
                </a:solidFill>
              </a:rPr>
              <a:t>Deterministic vs Stochastic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000" y="2680000"/>
            <a:ext cx="1940000" cy="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F3F3F"/>
                </a:solidFill>
              </a:rPr>
              <a:t>Crawling is Python. Reasoning is LangChain.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6000" y="1400000"/>
            <a:ext cx="2100000" cy="20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000" y="1550000"/>
            <a:ext cx="500000" cy="500000"/>
          </a:xfrm>
          <a:prstGeom prst="round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6000" y="2150000"/>
            <a:ext cx="1940000" cy="4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6C39"/>
                </a:solidFill>
              </a:rPr>
              <a:t>Intermediate 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6000" y="2680000"/>
            <a:ext cx="1940000" cy="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F3F3F"/>
                </a:solidFill>
              </a:rPr>
              <a:t>Save page notes, markdown, graph JSON. Every stage inspectable.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6000" y="1400000"/>
            <a:ext cx="2100000" cy="20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46000" y="1550000"/>
            <a:ext cx="500000" cy="500000"/>
          </a:xfrm>
          <a:prstGeom prst="round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6000" y="2150000"/>
            <a:ext cx="1940000" cy="4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6C39"/>
                </a:solidFill>
              </a:rPr>
              <a:t>Single Responsibility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6000" y="2680000"/>
            <a:ext cx="1940000" cy="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F3F3F"/>
                </a:solidFill>
              </a:rPr>
              <a:t>One section, one function, one job.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26000" y="1400000"/>
            <a:ext cx="2100000" cy="20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6000" y="1550000"/>
            <a:ext cx="500000" cy="500000"/>
          </a:xfrm>
          <a:prstGeom prst="round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000" y="2150000"/>
            <a:ext cx="1940000" cy="4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6C39"/>
                </a:solidFill>
              </a:rPr>
              <a:t>Shared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000" y="2680000"/>
            <a:ext cx="1940000" cy="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F3F3F"/>
                </a:solidFill>
              </a:rPr>
              <a:t>Notebook · CLI · Gradio reuse the same agent module.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6000" y="1400000"/>
            <a:ext cx="2100000" cy="20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406000" y="1550000"/>
            <a:ext cx="500000" cy="500000"/>
          </a:xfrm>
          <a:prstGeom prst="round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6000" y="2150000"/>
            <a:ext cx="1940000" cy="4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6C39"/>
                </a:solidFill>
              </a:rPr>
              <a:t>Progressive Disclosure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6000" y="2680000"/>
            <a:ext cx="1940000" cy="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F3F3F"/>
                </a:solidFill>
              </a:rPr>
              <a:t>Lab 1 is narrow. Later labs add LangGraph + multi-agent.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000" y="37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F3F3F"/>
                </a:solidFill>
              </a:rPr>
              <a:t>These habits keep code readable, debuggable, and reusable across labs.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500000"/>
            <a:ext cx="11400000" cy="1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3200000"/>
            <a:ext cx="11400000" cy="8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4EB3CF"/>
                </a:solidFill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000000" y="4200000"/>
            <a:ext cx="8200000" cy="60000"/>
          </a:xfrm>
          <a:prstGeom prst="rect">
            <a:avLst/>
          </a:prstGeom>
          <a:solidFill>
            <a:srgbClr val="006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0000" y="4500000"/>
            <a:ext cx="114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Lab 1: LangChain Pipeline · Beijing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